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80" r:id="rId7"/>
    <p:sldId id="258" r:id="rId8"/>
    <p:sldId id="284" r:id="rId9"/>
    <p:sldId id="282" r:id="rId10"/>
    <p:sldId id="28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CBDF-9514-42E6-89CE-4CFE2199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4601D-4799-1F92-54BB-702177770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6B621-D138-2E4E-C6EC-509B95031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2DA65-34D4-49C1-D50C-671F6499E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61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750082" cy="3200400"/>
          </a:xfrm>
        </p:spPr>
        <p:txBody>
          <a:bodyPr anchor="ctr"/>
          <a:lstStyle/>
          <a:p>
            <a:r>
              <a:rPr lang="en-US" b="1" dirty="0"/>
              <a:t>Arithmetic operators &amp; arrays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937143" cy="1325563"/>
          </a:xfrm>
        </p:spPr>
        <p:txBody>
          <a:bodyPr>
            <a:normAutofit/>
          </a:bodyPr>
          <a:lstStyle/>
          <a:p>
            <a:r>
              <a:rPr lang="en-US" b="1" dirty="0"/>
              <a:t>This presentation explains: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969" y="2735657"/>
            <a:ext cx="3937142" cy="326958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Arithmetic operators in Python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Arrays (Lists) and their operations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Practical problem solving using a </a:t>
            </a:r>
            <a:r>
              <a:rPr lang="en-US" b="1" dirty="0"/>
              <a:t>single base dataset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Real-world examples with clear Python code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7074" y="854075"/>
            <a:ext cx="6181725" cy="3457971"/>
          </a:xfrm>
        </p:spPr>
        <p:txBody>
          <a:bodyPr/>
          <a:lstStyle/>
          <a:p>
            <a:r>
              <a:rPr lang="en-IN" sz="4800" b="1" dirty="0"/>
              <a:t>Arithmetic Operators in Python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932" y="914400"/>
            <a:ext cx="7288282" cy="509366"/>
          </a:xfrm>
        </p:spPr>
        <p:txBody>
          <a:bodyPr/>
          <a:lstStyle/>
          <a:p>
            <a:r>
              <a:rPr lang="en-IN" b="1" dirty="0"/>
              <a:t>Arithmetic Operators in Python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8002" y="1715115"/>
            <a:ext cx="7288212" cy="665922"/>
          </a:xfrm>
        </p:spPr>
        <p:txBody>
          <a:bodyPr>
            <a:normAutofit/>
          </a:bodyPr>
          <a:lstStyle/>
          <a:p>
            <a:r>
              <a:rPr lang="en-US" dirty="0"/>
              <a:t>Arithmetic operators are used to perform mathematical operations on numbers.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A46FAA-3401-B86A-CB9A-93BE68E84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81259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86206348"/>
                    </a:ext>
                  </a:extLst>
                </a:gridCol>
                <a:gridCol w="2122042">
                  <a:extLst>
                    <a:ext uri="{9D8B030D-6E8A-4147-A177-3AD203B41FA5}">
                      <a16:colId xmlns:a16="http://schemas.microsoft.com/office/drawing/2014/main" val="907742919"/>
                    </a:ext>
                  </a:extLst>
                </a:gridCol>
                <a:gridCol w="3135758">
                  <a:extLst>
                    <a:ext uri="{9D8B030D-6E8A-4147-A177-3AD203B41FA5}">
                      <a16:colId xmlns:a16="http://schemas.microsoft.com/office/drawing/2014/main" val="19654425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46796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3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+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Adds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+ 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-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Subtracts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- 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9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*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Multiplies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* 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314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quotient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/ 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46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Floor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integer quotient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// 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038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remainder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% 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59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Exponentiation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**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a ** b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40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F249-65CF-D8D6-3A80-5487BD50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783E-6865-8497-5CD7-F0C25089C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IN" sz="4800" b="1" dirty="0"/>
              <a:t>Arrays in Python 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76207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61" y="873303"/>
            <a:ext cx="5008309" cy="531409"/>
          </a:xfrm>
        </p:spPr>
        <p:txBody>
          <a:bodyPr/>
          <a:lstStyle/>
          <a:p>
            <a:r>
              <a:rPr lang="en-IN" b="1" dirty="0"/>
              <a:t>Arrays in Python</a:t>
            </a:r>
            <a:endParaRPr lang="en-US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859" y="1743075"/>
            <a:ext cx="10839215" cy="1952624"/>
          </a:xfrm>
        </p:spPr>
        <p:txBody>
          <a:bodyPr>
            <a:noAutofit/>
          </a:bodyPr>
          <a:lstStyle/>
          <a:p>
            <a:r>
              <a:rPr lang="en-US" sz="2500" dirty="0"/>
              <a:t>What is an Array?</a:t>
            </a:r>
          </a:p>
          <a:p>
            <a:r>
              <a:rPr lang="en-US" sz="2400" b="0" dirty="0"/>
              <a:t>An array in Python is a collection of elements stored in a continuous memory location, where all elements must be of the same data type.</a:t>
            </a:r>
          </a:p>
          <a:p>
            <a:r>
              <a:rPr lang="en-US" sz="2400" b="0" dirty="0"/>
              <a:t>Python provides arrays using the </a:t>
            </a:r>
            <a:r>
              <a:rPr lang="en-US" sz="2400" b="0" dirty="0">
                <a:highlight>
                  <a:srgbClr val="FFFF00"/>
                </a:highlight>
              </a:rPr>
              <a:t>array</a:t>
            </a:r>
            <a:r>
              <a:rPr lang="en-US" sz="2400" b="0" dirty="0"/>
              <a:t> module.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1E094A-497A-D699-B356-E0DBAB898654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47961" y="4025402"/>
            <a:ext cx="6143389" cy="251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Why Arrays Are Used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store </a:t>
            </a:r>
            <a:r>
              <a:rPr lang="en-US" sz="2000" b="1" dirty="0"/>
              <a:t>large amounts of numeric data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perform </a:t>
            </a:r>
            <a:r>
              <a:rPr lang="en-US" sz="2000" b="1" dirty="0"/>
              <a:t>fast mathematical operations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save </a:t>
            </a:r>
            <a:r>
              <a:rPr lang="en-US" sz="2000" b="1" dirty="0"/>
              <a:t>memory</a:t>
            </a:r>
            <a:r>
              <a:rPr lang="en-US" sz="2000" dirty="0"/>
              <a:t> compared to lists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Commonly used in </a:t>
            </a:r>
            <a:r>
              <a:rPr lang="en-US" sz="2000" b="1" dirty="0"/>
              <a:t>scientific calculations</a:t>
            </a:r>
            <a:r>
              <a:rPr lang="en-US" sz="2000" dirty="0"/>
              <a:t> and </a:t>
            </a:r>
            <a:r>
              <a:rPr lang="en-US" sz="2000" b="1" dirty="0"/>
              <a:t>data processing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0"/>
            <a:ext cx="5048249" cy="866775"/>
          </a:xfrm>
        </p:spPr>
        <p:txBody>
          <a:bodyPr>
            <a:normAutofit/>
          </a:bodyPr>
          <a:lstStyle/>
          <a:p>
            <a:r>
              <a:rPr lang="en-US" b="1" dirty="0"/>
              <a:t>Syntax to Declare an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94B64-B773-D2C5-2A72-FB16A5F4D91D}"/>
              </a:ext>
            </a:extLst>
          </p:cNvPr>
          <p:cNvSpPr txBox="1"/>
          <p:nvPr/>
        </p:nvSpPr>
        <p:spPr>
          <a:xfrm>
            <a:off x="1362075" y="1001254"/>
            <a:ext cx="50482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from array import array</a:t>
            </a:r>
          </a:p>
          <a:p>
            <a:endParaRPr lang="en-IN" sz="2000" dirty="0"/>
          </a:p>
          <a:p>
            <a:r>
              <a:rPr lang="en-IN" sz="2000" dirty="0" err="1"/>
              <a:t>arr</a:t>
            </a:r>
            <a:r>
              <a:rPr lang="en-IN" sz="2000" dirty="0"/>
              <a:t> = array('</a:t>
            </a:r>
            <a:r>
              <a:rPr lang="en-IN" sz="2000" dirty="0" err="1"/>
              <a:t>i</a:t>
            </a:r>
            <a:r>
              <a:rPr lang="en-IN" sz="2000" dirty="0"/>
              <a:t>', [10, 20, 30, 40])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30E91-04C2-B26D-6519-EFD728679630}"/>
              </a:ext>
            </a:extLst>
          </p:cNvPr>
          <p:cNvSpPr txBox="1"/>
          <p:nvPr/>
        </p:nvSpPr>
        <p:spPr>
          <a:xfrm>
            <a:off x="1362075" y="2302110"/>
            <a:ext cx="2990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urier New" panose="02070309020205020404" pitchFamily="49" charset="0"/>
              </a:rPr>
              <a:t>'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'</a:t>
            </a:r>
            <a:r>
              <a:rPr lang="en-IN" dirty="0"/>
              <a:t> represents integer type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E6B792-E17A-F817-3F35-2D30B13FD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0225"/>
              </p:ext>
            </p:extLst>
          </p:nvPr>
        </p:nvGraphicFramePr>
        <p:xfrm>
          <a:off x="1438274" y="3514725"/>
          <a:ext cx="8896349" cy="3024189"/>
        </p:xfrm>
        <a:graphic>
          <a:graphicData uri="http://schemas.openxmlformats.org/drawingml/2006/table">
            <a:tbl>
              <a:tblPr/>
              <a:tblGrid>
                <a:gridCol w="1651935">
                  <a:extLst>
                    <a:ext uri="{9D8B030D-6E8A-4147-A177-3AD203B41FA5}">
                      <a16:colId xmlns:a16="http://schemas.microsoft.com/office/drawing/2014/main" val="859534457"/>
                    </a:ext>
                  </a:extLst>
                </a:gridCol>
                <a:gridCol w="3622207">
                  <a:extLst>
                    <a:ext uri="{9D8B030D-6E8A-4147-A177-3AD203B41FA5}">
                      <a16:colId xmlns:a16="http://schemas.microsoft.com/office/drawing/2014/main" val="3011131275"/>
                    </a:ext>
                  </a:extLst>
                </a:gridCol>
                <a:gridCol w="3622207">
                  <a:extLst>
                    <a:ext uri="{9D8B030D-6E8A-4147-A177-3AD203B41FA5}">
                      <a16:colId xmlns:a16="http://schemas.microsoft.com/office/drawing/2014/main" val="517971807"/>
                    </a:ext>
                  </a:extLst>
                </a:gridCol>
              </a:tblGrid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09415"/>
                  </a:ext>
                </a:extLst>
              </a:tr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'b'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Signed 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integers (-128 to 127)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140020"/>
                  </a:ext>
                </a:extLst>
              </a:tr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'B'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Unsigned 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 to 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933304"/>
                  </a:ext>
                </a:extLst>
              </a:tr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'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'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Signed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914073"/>
                  </a:ext>
                </a:extLst>
              </a:tr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'I'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Unsigned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 integers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18304"/>
                  </a:ext>
                </a:extLst>
              </a:tr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'f'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876650"/>
                  </a:ext>
                </a:extLst>
              </a:tr>
              <a:tr h="43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'd'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More precise decimal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06225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5367459-300A-5ECE-4B1C-77C5BF51D41C}"/>
              </a:ext>
            </a:extLst>
          </p:cNvPr>
          <p:cNvSpPr txBox="1"/>
          <p:nvPr/>
        </p:nvSpPr>
        <p:spPr>
          <a:xfrm>
            <a:off x="7077075" y="866775"/>
            <a:ext cx="45148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Important Features of Arrays: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Stores </a:t>
            </a:r>
            <a:r>
              <a:rPr lang="en-US" sz="2000" b="1" dirty="0"/>
              <a:t>same type</a:t>
            </a:r>
            <a:r>
              <a:rPr lang="en-US" sz="2000" dirty="0"/>
              <a:t> of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Indexed</a:t>
            </a:r>
            <a:r>
              <a:rPr lang="en-US" sz="2000" dirty="0"/>
              <a:t> (starts from index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Mutable</a:t>
            </a:r>
            <a:r>
              <a:rPr lang="en-US" sz="2000" dirty="0"/>
              <a:t> (values can be changed)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Faster than lists for numeric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Uses less memory than lists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C57E90-41BC-33CD-B345-E33508BB79A0}"/>
              </a:ext>
            </a:extLst>
          </p:cNvPr>
          <p:cNvSpPr txBox="1"/>
          <p:nvPr/>
        </p:nvSpPr>
        <p:spPr>
          <a:xfrm>
            <a:off x="1362075" y="3090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+mj-lt"/>
              </a:rPr>
              <a:t>Common Array Type Codes</a:t>
            </a:r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5424" y="1644311"/>
            <a:ext cx="5800725" cy="2327614"/>
          </a:xfrm>
        </p:spPr>
        <p:txBody>
          <a:bodyPr/>
          <a:lstStyle/>
          <a:p>
            <a:r>
              <a:rPr lang="en-US" sz="6000" b="1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238</TotalTime>
  <Words>313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Tenorite</vt:lpstr>
      <vt:lpstr>Custom</vt:lpstr>
      <vt:lpstr>Arithmetic operators &amp; arrays</vt:lpstr>
      <vt:lpstr>This presentation explains:</vt:lpstr>
      <vt:lpstr>Arithmetic Operators in Python</vt:lpstr>
      <vt:lpstr>Arithmetic Operators in Python</vt:lpstr>
      <vt:lpstr>Arrays in Python </vt:lpstr>
      <vt:lpstr>Arrays in Python</vt:lpstr>
      <vt:lpstr>Syntax to Declare an Array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Rudraksha Shete</dc:creator>
  <cp:lastModifiedBy>Rudraksha Shete</cp:lastModifiedBy>
  <cp:revision>2</cp:revision>
  <dcterms:created xsi:type="dcterms:W3CDTF">2026-01-11T02:48:29Z</dcterms:created>
  <dcterms:modified xsi:type="dcterms:W3CDTF">2026-01-12T07:19:43Z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